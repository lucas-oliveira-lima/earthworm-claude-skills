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44000"/>
            <a:ext cx="2160000" cy="315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80000" y="288000"/>
            <a:ext cx="895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IMPACTO DO PROJECTO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0" y="720000"/>
            <a:ext cx="89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Sementes da Mudança · Earthworm Foundation Brasil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1260000"/>
            <a:ext cx="2808000" cy="19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999" y="1332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1.200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340000"/>
            <a:ext cx="26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Produtores
beneficiados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6000" y="1260000"/>
            <a:ext cx="2808000" cy="198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7999" y="1332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7999" y="2340000"/>
            <a:ext cx="26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Satisfação
com o programa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260000"/>
            <a:ext cx="2808000" cy="198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999" y="1332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3.400t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999" y="2340000"/>
            <a:ext cx="26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Cacau
certificado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7999" y="1260000"/>
            <a:ext cx="2808000" cy="198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9999" y="1332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R$2.1M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9999" y="2340000"/>
            <a:ext cx="266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Aumento de
renda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3528000"/>
            <a:ext cx="1183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C3C3C"/>
                </a:solidFill>
                <a:latin typeface="Arial"/>
              </a:rPr>
              <a:t>Desafios abordados nas visitas técnicas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000" y="3960000"/>
            <a:ext cx="11833200" cy="0"/>
          </a:xfrm>
          <a:prstGeom prst="line">
            <a:avLst/>
          </a:prstGeom>
          <a:ln w="6350">
            <a:solidFill>
              <a:srgbClr val="BC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0000" y="414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3C3C"/>
                </a:solidFill>
                <a:latin typeface="Arial"/>
              </a:rPr>
              <a:t>Solo e conservação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0" y="4176000"/>
            <a:ext cx="8233199" cy="28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00000" y="4176000"/>
            <a:ext cx="7245215" cy="288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53216" y="414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F2D"/>
                </a:solidFill>
                <a:latin typeface="Arial"/>
              </a:rPr>
              <a:t>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4626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3C3C"/>
                </a:solidFill>
                <a:latin typeface="Arial"/>
              </a:rPr>
              <a:t>Fitossanidade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0" y="4662000"/>
            <a:ext cx="8233199" cy="28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0000" y="4662000"/>
            <a:ext cx="6257232" cy="288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5232" y="4626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F2D"/>
                </a:solidFill>
                <a:latin typeface="Arial"/>
              </a:rPr>
              <a:t>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" y="5112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3C3C"/>
                </a:solidFill>
                <a:latin typeface="Arial"/>
              </a:rPr>
              <a:t>Adubação e nutrição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0" y="5148000"/>
            <a:ext cx="8233199" cy="28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0000" y="5148000"/>
            <a:ext cx="6751223" cy="288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59223" y="5112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F2D"/>
                </a:solidFill>
                <a:latin typeface="Arial"/>
              </a:rPr>
              <a:t>82%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5598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3C3C"/>
                </a:solidFill>
                <a:latin typeface="Arial"/>
              </a:rPr>
              <a:t>Diversificação / SAFs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0" y="5634000"/>
            <a:ext cx="8233199" cy="28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00000" y="5634000"/>
            <a:ext cx="5022252" cy="288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0252" y="559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F2D"/>
                </a:solidFill>
                <a:latin typeface="Arial"/>
              </a:rPr>
              <a:t>61%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000" y="6083999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3C3C"/>
                </a:solidFill>
                <a:latin typeface="Arial"/>
              </a:rPr>
              <a:t>Gestão e comercialização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0" y="6120000"/>
            <a:ext cx="8233199" cy="28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00000" y="6120000"/>
            <a:ext cx="4445927" cy="288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3928" y="6083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F2D"/>
                </a:solidFill>
                <a:latin typeface="Arial"/>
              </a:rPr>
              <a:t>54%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000" y="6498000"/>
            <a:ext cx="1183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C7C7C"/>
                </a:solidFill>
                <a:latin typeface="Arial"/>
              </a:rPr>
              <a:t>earthworm.org  ·  info@earthworm.org</a:t>
            </a:r>
          </a:p>
        </p:txBody>
      </p:sp>
      <p:pic>
        <p:nvPicPr>
          <p:cNvPr id="41" name="Picture 40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6426000"/>
            <a:ext cx="296568" cy="3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
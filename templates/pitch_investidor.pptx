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4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54305"/>
            <a:ext cx="640080" cy="462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F2D"/>
                </a:solidFill>
                <a:latin typeface="Arial"/>
              </a:rPr>
              <a:t>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05740"/>
            <a:ext cx="5486400" cy="360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C7C7C"/>
                </a:solidFill>
                <a:latin typeface="Calibri"/>
              </a:rPr>
              <a:t>Capa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205740"/>
            <a:ext cx="548640" cy="360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CBCBC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1525"/>
            <a:ext cx="82296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Arial"/>
              </a:rPr>
              <a:t>THE PITCH
Earthworm Foundation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86100"/>
            <a:ext cx="8229600" cy="1285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  <a:latin typeface="Calibri"/>
              </a:rPr>
              <a:t>Parceria para Cadeias de Suprimentos Sustentáveis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C3C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54305"/>
            <a:ext cx="640080" cy="462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F2D"/>
                </a:solidFill>
                <a:latin typeface="Arial"/>
              </a:rPr>
              <a:t>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05740"/>
            <a:ext cx="5486400" cy="360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C7C7C"/>
                </a:solidFill>
                <a:latin typeface="Calibri"/>
              </a:rPr>
              <a:t>O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205740"/>
            <a:ext cx="548640" cy="360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CBCBC"/>
                </a:solidFill>
                <a:latin typeface="Calibr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1525"/>
            <a:ext cx="82296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94F2D"/>
                </a:solidFill>
                <a:latin typeface="Arial"/>
              </a:rPr>
              <a:t>O PROBLEMA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54530"/>
            <a:ext cx="8229600" cy="2571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As cadeias de suprimentos globais enfrentam desafios críticos de sustentabilidade:
• Desmatamento e degradação de ecossistemas
• Condições de trabalho inadequadas para agricultores
• Falta de transparência e rastreabilidade
• Impacto climático não gerido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E94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54305"/>
            <a:ext cx="640080" cy="462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F2D"/>
                </a:solidFill>
                <a:latin typeface="Arial"/>
              </a:rPr>
              <a:t>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05740"/>
            <a:ext cx="5486400" cy="360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C7C7C"/>
                </a:solidFill>
                <a:latin typeface="Calibri"/>
              </a:rPr>
              <a:t>A Solução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205740"/>
            <a:ext cx="548640" cy="360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CBCBC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71525"/>
            <a:ext cx="82296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94F2D"/>
                </a:solidFill>
                <a:latin typeface="Arial"/>
              </a:rPr>
              <a:t>A NOSSA SOLUÇÃO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54530"/>
            <a:ext cx="8229600" cy="2571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C3C3C"/>
                </a:solidFill>
                <a:latin typeface="Calibri"/>
              </a:rPr>
              <a:t>O framework V-T-T-V da Earthworm Foundation oferece uma abordagem holística:
Values → Transparency → Transformation → Verification
Trabalhamos com empresas líderes para criar cadeias de suprimentos que beneficiam pessoas, natureza e negócios.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E94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54305"/>
            <a:ext cx="640080" cy="462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F2D"/>
                </a:solidFill>
                <a:latin typeface="Arial"/>
              </a:rPr>
              <a:t>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05740"/>
            <a:ext cx="5486400" cy="360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C7C7C"/>
                </a:solidFill>
                <a:latin typeface="Calibri"/>
              </a:rPr>
              <a:t>Mercado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205740"/>
            <a:ext cx="548640" cy="360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CBCBC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71525"/>
            <a:ext cx="82296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94F2D"/>
                </a:solidFill>
                <a:latin typeface="Arial"/>
              </a:rPr>
              <a:t>O MERCADO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54530"/>
            <a:ext cx="8229600" cy="2571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C3C3C"/>
                </a:solidFill>
                <a:latin typeface="Calibri"/>
              </a:rPr>
              <a:t>Um mercado global em crescimento:
$X Trilhões em commodities agrícolas globais
100+ empresas parceiras actuais
50+ países de actuação
20+ anos de experiência comprovada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C3C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54305"/>
            <a:ext cx="640080" cy="462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F2D"/>
                </a:solidFill>
                <a:latin typeface="Arial"/>
              </a:rPr>
              <a:t>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05740"/>
            <a:ext cx="5486400" cy="360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C7C7C"/>
                </a:solidFill>
                <a:latin typeface="Calibri"/>
              </a:rPr>
              <a:t>Nossa Abordagem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205740"/>
            <a:ext cx="548640" cy="360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CBCBC"/>
                </a:solidFill>
                <a:latin typeface="Calibr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1525"/>
            <a:ext cx="82296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94F2D"/>
                </a:solidFill>
                <a:latin typeface="Arial"/>
              </a:rPr>
              <a:t>NOSSA ABORDAGEM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54530"/>
            <a:ext cx="8229600" cy="2571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Como trabalhamos com parceiros corporativos:
1. Diagnóstico da cadeia de suprimentos
2. Definição de metas e compromissos
3. Implementação e transformação
4. Verificação e comunicação de impacto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E94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54305"/>
            <a:ext cx="640080" cy="462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F2D"/>
                </a:solidFill>
                <a:latin typeface="Arial"/>
              </a:rPr>
              <a:t>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05740"/>
            <a:ext cx="5486400" cy="360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C7C7C"/>
                </a:solidFill>
                <a:latin typeface="Calibri"/>
              </a:rPr>
              <a:t>Impacto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205740"/>
            <a:ext cx="548640" cy="360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CBCBC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71525"/>
            <a:ext cx="82296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94F2D"/>
                </a:solidFill>
                <a:latin typeface="Arial"/>
              </a:rPr>
              <a:t>IMPACTO COMPROVADO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54530"/>
            <a:ext cx="8229600" cy="2571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C3C3C"/>
                </a:solidFill>
                <a:latin typeface="Calibri"/>
              </a:rPr>
              <a:t>Resultados concretos dos nossos programas:
• Milhões de hectares protegidos
• Agricultores apoiados com melhores práticas
• Empresas com compromissos verificados
• Emissões de carbono evitadas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4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54305"/>
            <a:ext cx="640080" cy="462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F2D"/>
                </a:solidFill>
                <a:latin typeface="Arial"/>
              </a:rPr>
              <a:t>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05740"/>
            <a:ext cx="5486400" cy="360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C7C7C"/>
                </a:solidFill>
                <a:latin typeface="Calibri"/>
              </a:rPr>
              <a:t>Programas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205740"/>
            <a:ext cx="548640" cy="360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CBCBC"/>
                </a:solidFill>
                <a:latin typeface="Calibri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1525"/>
            <a:ext cx="82296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Arial"/>
              </a:rPr>
              <a:t>NOSSOS PROGRAMAS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86100"/>
            <a:ext cx="8229600" cy="1285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  <a:latin typeface="Calibri"/>
              </a:rPr>
              <a:t>/Rurality  |  /Landscape  |  /CSE
/Person to Person  |  /Respect
Ventures: Starling | Kumacaya
Cada programa endereça desafios específicos da cadeia de suprimentos.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E94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54305"/>
            <a:ext cx="640080" cy="462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F2D"/>
                </a:solidFill>
                <a:latin typeface="Arial"/>
              </a:rPr>
              <a:t>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05740"/>
            <a:ext cx="5486400" cy="360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C7C7C"/>
                </a:solidFill>
                <a:latin typeface="Calibri"/>
              </a:rPr>
              <a:t>Equipa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205740"/>
            <a:ext cx="548640" cy="360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CBCBC"/>
                </a:solidFill>
                <a:latin typeface="Calibr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71525"/>
            <a:ext cx="82296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94F2D"/>
                </a:solidFill>
                <a:latin typeface="Arial"/>
              </a:rPr>
              <a:t>NOSSA EQUIPA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54530"/>
            <a:ext cx="8229600" cy="2571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C3C3C"/>
                </a:solidFill>
                <a:latin typeface="Calibri"/>
              </a:rPr>
              <a:t>Uma equipa global de especialistas:
• Especialistas em sustentabilidade
• Agrônomos e silvicultores
• Especialistas em direitos humanos
• Analistas de dados e tecnologia
Presença em mais de 20 países.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C3C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54305"/>
            <a:ext cx="640080" cy="462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F2D"/>
                </a:solidFill>
                <a:latin typeface="Arial"/>
              </a:rPr>
              <a:t>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05740"/>
            <a:ext cx="5486400" cy="360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C7C7C"/>
                </a:solidFill>
                <a:latin typeface="Calibri"/>
              </a:rPr>
              <a:t>Parceria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205740"/>
            <a:ext cx="548640" cy="360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CBCBC"/>
                </a:solidFill>
                <a:latin typeface="Calibri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1525"/>
            <a:ext cx="82296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94F2D"/>
                </a:solidFill>
                <a:latin typeface="Arial"/>
              </a:rPr>
              <a:t>PROPOSTA DE PARCERIA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54530"/>
            <a:ext cx="8229600" cy="2571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Investimento proposto:
[Tipo de parceria / nível de membros]
[Valor e condições]
Benefícios para o parceiro:
• Acesso ao expertise global EF
• Relatórios de impacto verificados
• Rede de parceiros corporativos
• Apoio à comunicação de sustentabilidade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E94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54305"/>
            <a:ext cx="640080" cy="462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F2D"/>
                </a:solidFill>
                <a:latin typeface="Arial"/>
              </a:rPr>
              <a:t>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05740"/>
            <a:ext cx="5486400" cy="360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C7C7C"/>
                </a:solidFill>
                <a:latin typeface="Calibri"/>
              </a:rPr>
              <a:t>Próximos Passos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205740"/>
            <a:ext cx="548640" cy="360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CBCBC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71525"/>
            <a:ext cx="82296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94F2D"/>
                </a:solidFill>
                <a:latin typeface="Arial"/>
              </a:rPr>
              <a:t>PRÓXIMOS PASSOS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54530"/>
            <a:ext cx="8229600" cy="2571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C3C3C"/>
                </a:solidFill>
                <a:latin typeface="Calibri"/>
              </a:rPr>
              <a:t>Como avançar:
1. Reunião de alinhamento estratégico
2. Diagnóstico inicial da cadeia
3. Proposta customizada
4. Assinatura de acordo de parceria
5. Início das actividades
Contacto: info@earthworm.org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